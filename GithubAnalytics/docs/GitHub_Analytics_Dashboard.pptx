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74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06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62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69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13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-182880"/>
            <a:ext cx="1463040" cy="146304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87168"/>
            <a:ext cx="4114800" cy="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0584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Intelligence Dashboard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2724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33472" y="312724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8304" y="312724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v3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312724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FFB300">
              <a:alpha val="2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4005072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6C63FF">
              <a:alpha val="85000"/>
            </a:srgbClr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40050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SHR4_SWD2_S1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43525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Track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2926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— Information Technology Colleague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621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رواد مصر الرقمية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4FC3F7"/>
                </a:solidFill>
                <a:ea typeface="Calibri"/>
                <a:cs typeface="Calibri"/>
              </a:rPr>
              <a:t>Special thanks to the ITC initiative and the </a:t>
            </a:r>
            <a:r>
              <a:rPr lang="en-US" sz="1100" b="1" dirty="0">
                <a:solidFill>
                  <a:schemeClr val="bg2">
                    <a:lumMod val="75000"/>
                  </a:schemeClr>
                </a:solidFill>
                <a:ea typeface="Calibri"/>
                <a:cs typeface="Calibri"/>
              </a:rPr>
              <a:t>frontend development track at </a:t>
            </a:r>
            <a:r>
              <a:rPr lang="en-US" sz="1100" b="1" dirty="0">
                <a:solidFill>
                  <a:srgbClr val="FFC000"/>
                </a:solidFill>
                <a:ea typeface="Calibri"/>
                <a:cs typeface="Calibri"/>
              </a:rPr>
              <a:t>ITC</a:t>
            </a:r>
            <a:endParaRPr lang="en-US" sz="1100" dirty="0">
              <a:solidFill>
                <a:srgbClr val="FFC000"/>
              </a:solidFill>
              <a:ea typeface="Calibri"/>
              <a:cs typeface="Calibri"/>
            </a:endParaRP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4488"/>
            <a:ext cx="658368" cy="658368"/>
          </a:xfrm>
          <a:prstGeom prst="ellipse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182880"/>
            <a:ext cx="2926080" cy="495604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5906" y="82249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5906" y="1297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738544"/>
            <a:ext cx="2377440" cy="0"/>
          </a:xfrm>
          <a:prstGeom prst="line">
            <a:avLst/>
          </a:prstGeom>
          <a:noFill/>
          <a:ln w="17780">
            <a:solidFill>
              <a:srgbClr val="6C6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993392"/>
            <a:ext cx="2514600" cy="301752"/>
          </a:xfrm>
          <a:prstGeom prst="roundRect">
            <a:avLst>
              <a:gd name="adj" fmla="val 12121"/>
            </a:avLst>
          </a:prstGeom>
          <a:solidFill>
            <a:srgbClr val="6C63FF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" y="1993392"/>
            <a:ext cx="2414016" cy="3017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2331720"/>
            <a:ext cx="2514600" cy="301752"/>
          </a:xfrm>
          <a:prstGeom prst="roundRect">
            <a:avLst>
              <a:gd name="adj" fmla="val 12121"/>
            </a:avLst>
          </a:prstGeom>
          <a:solidFill>
            <a:srgbClr val="0F1526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" y="2331720"/>
            <a:ext cx="2414016" cy="3017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" y="2670048"/>
            <a:ext cx="2514600" cy="301752"/>
          </a:xfrm>
          <a:prstGeom prst="roundRect">
            <a:avLst>
              <a:gd name="adj" fmla="val 12121"/>
            </a:avLst>
          </a:prstGeom>
          <a:solidFill>
            <a:srgbClr val="0F1526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" y="2670048"/>
            <a:ext cx="2414016" cy="3017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3008376"/>
            <a:ext cx="2514600" cy="301752"/>
          </a:xfrm>
          <a:prstGeom prst="roundRect">
            <a:avLst>
              <a:gd name="adj" fmla="val 12121"/>
            </a:avLst>
          </a:prstGeom>
          <a:solidFill>
            <a:srgbClr val="0F1526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3008376"/>
            <a:ext cx="2414016" cy="3017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4592" y="3346704"/>
            <a:ext cx="2514600" cy="301752"/>
          </a:xfrm>
          <a:prstGeom prst="roundRect">
            <a:avLst>
              <a:gd name="adj" fmla="val 12121"/>
            </a:avLst>
          </a:prstGeom>
          <a:solidFill>
            <a:srgbClr val="0F1526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" y="3346704"/>
            <a:ext cx="2414016" cy="3017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Requirements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" y="3685032"/>
            <a:ext cx="2514600" cy="301752"/>
          </a:xfrm>
          <a:prstGeom prst="roundRect">
            <a:avLst>
              <a:gd name="adj" fmla="val 12121"/>
            </a:avLst>
          </a:prstGeom>
          <a:solidFill>
            <a:srgbClr val="0F1526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" y="3685032"/>
            <a:ext cx="2414016" cy="3017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r>
              <a:rPr lang="en-US" sz="11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ar-EG" sz="11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dirty="0" smtClean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Screenshots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" y="4023360"/>
            <a:ext cx="2514600" cy="301752"/>
          </a:xfrm>
          <a:prstGeom prst="roundRect">
            <a:avLst>
              <a:gd name="adj" fmla="val 12121"/>
            </a:avLst>
          </a:prstGeom>
          <a:solidFill>
            <a:srgbClr val="0F1526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" y="4023360"/>
            <a:ext cx="2414016" cy="3017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r>
              <a:rPr lang="ar-EG" sz="1100" b="1" dirty="0" smtClean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1100" b="1" dirty="0" smtClean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3891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200400" y="914400"/>
            <a:ext cx="5486400" cy="0"/>
          </a:xfrm>
          <a:prstGeom prst="line">
            <a:avLst/>
          </a:prstGeom>
          <a:noFill/>
          <a:ln w="8890">
            <a:solidFill>
              <a:srgbClr val="1E2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102412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walkthrough of GitHub Analytics Dashboard — from planning and architecture to implementation, testing, and live demo.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0" y="1938528"/>
            <a:ext cx="1298448" cy="1261872"/>
          </a:xfrm>
          <a:prstGeom prst="roundRect">
            <a:avLst>
              <a:gd name="adj" fmla="val 5797"/>
            </a:avLst>
          </a:prstGeom>
          <a:solidFill>
            <a:srgbClr val="141B2D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20116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3200400" y="2670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1938528"/>
            <a:ext cx="1298448" cy="1261872"/>
          </a:xfrm>
          <a:prstGeom prst="roundRect">
            <a:avLst>
              <a:gd name="adj" fmla="val 5797"/>
            </a:avLst>
          </a:prstGeom>
          <a:solidFill>
            <a:srgbClr val="141B2D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0116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663440" y="2670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1938528"/>
            <a:ext cx="1298448" cy="1261872"/>
          </a:xfrm>
          <a:prstGeom prst="roundRect">
            <a:avLst>
              <a:gd name="adj" fmla="val 5797"/>
            </a:avLst>
          </a:prstGeom>
          <a:solidFill>
            <a:srgbClr val="141B2D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0116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6126480" y="2670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1938528"/>
            <a:ext cx="1298448" cy="1261872"/>
          </a:xfrm>
          <a:prstGeom prst="roundRect">
            <a:avLst>
              <a:gd name="adj" fmla="val 5797"/>
            </a:avLst>
          </a:prstGeom>
          <a:solidFill>
            <a:srgbClr val="141B2D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20116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7589520" y="2670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3383280"/>
            <a:ext cx="5669280" cy="1572768"/>
          </a:xfrm>
          <a:prstGeom prst="roundRect">
            <a:avLst>
              <a:gd name="adj" fmla="val 4070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34930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429000" y="3858768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75888" y="3785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frontend — no backend required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29000" y="4206240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4133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 fully implemented &amp; verified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429000" y="455371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75888" y="4480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Score formula: Stars×3 + Followers×2 + Repos + Langs×5</a:t>
            </a:r>
            <a:endParaRPr lang="en-US" sz="1100" dirty="0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33020"/>
            <a:ext cx="598424" cy="598424"/>
          </a:xfrm>
          <a:prstGeom prst="ellipse">
            <a:avLst/>
          </a:prstGeom>
        </p:spPr>
      </p:pic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55372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62456" y="0"/>
            <a:ext cx="7781544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188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658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Team · Tech Stack · Supervisor · Project Info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0"/>
            <a:ext cx="457200" cy="457200"/>
          </a:xfrm>
          <a:prstGeom prst="ellipse">
            <a:avLst/>
          </a:prstGeom>
          <a:solidFill>
            <a:srgbClr val="6C63FF">
              <a:alpha val="80000"/>
            </a:srgbClr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554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Norhan Elyan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/ FrontEnd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457200" cy="457200"/>
          </a:xfrm>
          <a:prstGeom prst="ellipse">
            <a:avLst/>
          </a:prstGeom>
          <a:solidFill>
            <a:srgbClr val="4FC3F7">
              <a:alpha val="80000"/>
            </a:srgbClr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4688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Alya Abuelmaati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10128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74720"/>
            <a:ext cx="457200" cy="457200"/>
          </a:xfrm>
          <a:prstGeom prst="ellipse">
            <a:avLst/>
          </a:prstGeom>
          <a:solidFill>
            <a:srgbClr val="00E676">
              <a:alpha val="80000"/>
            </a:srgbClr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383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Gamal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1481328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645920"/>
            <a:ext cx="457200" cy="457200"/>
          </a:xfrm>
          <a:prstGeom prst="ellipse">
            <a:avLst/>
          </a:prstGeom>
          <a:solidFill>
            <a:srgbClr val="FFB300">
              <a:alpha val="80000"/>
            </a:srgbClr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58768" y="1554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Abdelrahman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58768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18688" y="2395728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2560320"/>
            <a:ext cx="457200" cy="457200"/>
          </a:xfrm>
          <a:prstGeom prst="ellipse">
            <a:avLst/>
          </a:prstGeom>
          <a:solidFill>
            <a:srgbClr val="FF5252">
              <a:alpha val="80000"/>
            </a:srgbClr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58768" y="24688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Elshair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58768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051560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141B2D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0972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1325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Analytics Dashboard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1728216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141B2D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773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2002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ITC_SHR4_SWD2_S1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2404872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141B2D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24505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679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Web Developer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3081528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141B2D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127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63640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 · Chart.js · Axios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26480" y="3758184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141B2D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8039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63640" y="4032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•  2026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4434840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141B2D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4480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6263640" y="4709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ITC</a:t>
            </a:r>
            <a:endParaRPr lang="en-US" sz="1100" dirty="0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818" y="86868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035040" y="918104"/>
            <a:ext cx="2926080" cy="2743200"/>
          </a:xfrm>
          <a:prstGeom prst="ellipse">
            <a:avLst/>
          </a:prstGeom>
          <a:solidFill>
            <a:srgbClr val="FF5252">
              <a:alpha val="10000"/>
            </a:srgbClr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402336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FF5252">
              <a:alpha val="20000"/>
            </a:srgbClr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5252"/>
                </a:solidFill>
              </a:rPr>
              <a:t>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3200400" cy="0"/>
          </a:xfrm>
          <a:prstGeom prst="line">
            <a:avLst/>
          </a:prstGeom>
          <a:noFill/>
          <a:ln w="8890">
            <a:solidFill>
              <a:srgbClr val="1E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profiles contain valuable data, but analyzing them manually is time-consuming and comparing multiple developers without visual tools makes decision-making difficult and inaccurate.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639312"/>
            <a:ext cx="146304" cy="14630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stats &amp; identify strengths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Recruiters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candidates quickly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187952"/>
            <a:ext cx="146304" cy="146304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14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Students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 other devs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462272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89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Organizers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participant skill levels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918104"/>
            <a:ext cx="3200400" cy="1170432"/>
          </a:xfrm>
          <a:prstGeom prst="roundRect">
            <a:avLst>
              <a:gd name="adj" fmla="val 6250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0278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82512" y="100954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82512" y="139359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profile analysis takes too much time and effort.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2216552"/>
            <a:ext cx="3200400" cy="1170432"/>
          </a:xfrm>
          <a:prstGeom prst="roundRect">
            <a:avLst>
              <a:gd name="adj" fmla="val 6250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3262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82512" y="23079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82512" y="26920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numbers across developers without charts is error-prone.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3515000"/>
            <a:ext cx="3200400" cy="1170432"/>
          </a:xfrm>
          <a:prstGeom prst="roundRect">
            <a:avLst>
              <a:gd name="adj" fmla="val 6250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62472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82512" y="36064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82512" y="399048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multiple profiles consumes significant time.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25" y="72901"/>
            <a:ext cx="658368" cy="658368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E676"/>
                </a:solidFill>
              </a:rPr>
              <a:t>SOLUTION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12848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12848" y="69494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web dashboard that transforms raw GitHub API data into actionable insights — no code required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261872"/>
            <a:ext cx="4133088" cy="1572768"/>
          </a:xfrm>
          <a:prstGeom prst="roundRect">
            <a:avLst>
              <a:gd name="adj" fmla="val 4070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261872"/>
            <a:ext cx="4133088" cy="365760"/>
          </a:xfrm>
          <a:prstGeom prst="roundRect">
            <a:avLst>
              <a:gd name="adj" fmla="val 17500"/>
            </a:avLst>
          </a:prstGeom>
          <a:solidFill>
            <a:srgbClr val="6C63FF">
              <a:alpha val="25000"/>
            </a:srgbClr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298448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1737360"/>
            <a:ext cx="3858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dashboard that fetches GitHub data directly and renders it as a Profile Card, visual charts, and a Compare Mode between two users.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3168" y="1261872"/>
            <a:ext cx="4133088" cy="1572768"/>
          </a:xfrm>
          <a:prstGeom prst="roundRect">
            <a:avLst>
              <a:gd name="adj" fmla="val 4070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261872"/>
            <a:ext cx="4133088" cy="365760"/>
          </a:xfrm>
          <a:prstGeom prst="roundRect">
            <a:avLst>
              <a:gd name="adj" fmla="val 17500"/>
            </a:avLst>
          </a:prstGeom>
          <a:solidFill>
            <a:srgbClr val="00E676">
              <a:alpha val="25000"/>
            </a:srgbClr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298448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0328" y="1737360"/>
            <a:ext cx="3858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with no coding knowledge required. Results load in real time with instant side-by-side developer comparison.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4133088" cy="1572768"/>
          </a:xfrm>
          <a:prstGeom prst="roundRect">
            <a:avLst>
              <a:gd name="adj" fmla="val 4070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80944"/>
            <a:ext cx="4133088" cy="365760"/>
          </a:xfrm>
          <a:prstGeom prst="roundRect">
            <a:avLst>
              <a:gd name="adj" fmla="val 17500"/>
            </a:avLst>
          </a:prstGeom>
          <a:solidFill>
            <a:srgbClr val="4FC3F7">
              <a:alpha val="25000"/>
            </a:srgbClr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456432"/>
            <a:ext cx="3858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 CSS · Chart.js · Axios · GitHub REST API v3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3168" y="2980944"/>
            <a:ext cx="4133088" cy="1572768"/>
          </a:xfrm>
          <a:prstGeom prst="roundRect">
            <a:avLst>
              <a:gd name="adj" fmla="val 4070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980944"/>
            <a:ext cx="4133088" cy="365760"/>
          </a:xfrm>
          <a:prstGeom prst="roundRect">
            <a:avLst>
              <a:gd name="adj" fmla="val 17500"/>
            </a:avLst>
          </a:prstGeom>
          <a:solidFill>
            <a:srgbClr val="FFB300">
              <a:alpha val="25000"/>
            </a:srgbClr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01752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Score Formula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0328" y="3456432"/>
            <a:ext cx="3858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× 3  +  Followers × 2  +  Repos  +  Languages ×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00E676">
              <a:alpha val="20000"/>
            </a:srgbClr>
          </a:solidFill>
          <a:ln w="17780">
            <a:solidFill>
              <a:srgbClr val="00E67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24128" y="25603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736592" y="164592"/>
            <a:ext cx="3474720" cy="1572768"/>
          </a:xfrm>
          <a:prstGeom prst="roundRect">
            <a:avLst>
              <a:gd name="adj" fmla="val 4070"/>
            </a:avLst>
          </a:prstGeom>
          <a:solidFill>
            <a:srgbClr val="141B2D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2896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Style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82896" y="548640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Frontend — Client-Only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server or database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via GitHub REST API v3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4041648" cy="841248"/>
          </a:xfrm>
          <a:prstGeom prst="roundRect">
            <a:avLst>
              <a:gd name="adj" fmla="val 6522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2494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08483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rendering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1920240"/>
            <a:ext cx="4041648" cy="841248"/>
          </a:xfrm>
          <a:prstGeom prst="roundRect">
            <a:avLst>
              <a:gd name="adj" fmla="val 6522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73752" y="22494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22592" y="208483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Pie, Radar charts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4041648" cy="841248"/>
          </a:xfrm>
          <a:prstGeom prst="roundRect">
            <a:avLst>
              <a:gd name="adj" fmla="val 6522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2095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04495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modular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2880360"/>
            <a:ext cx="4041648" cy="841248"/>
          </a:xfrm>
          <a:prstGeom prst="roundRect">
            <a:avLst>
              <a:gd name="adj" fmla="val 6522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32095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v3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22592" y="304495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user &amp; repo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4041648" cy="841248"/>
          </a:xfrm>
          <a:prstGeom prst="roundRect">
            <a:avLst>
              <a:gd name="adj" fmla="val 6522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Mgmt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1696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/ useEffect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60320" y="400507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component state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840480"/>
            <a:ext cx="4041648" cy="841248"/>
          </a:xfrm>
          <a:prstGeom prst="roundRect">
            <a:avLst>
              <a:gd name="adj" fmla="val 6522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41696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2592" y="400507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 &amp; bundling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" y="78232"/>
            <a:ext cx="658368" cy="658368"/>
          </a:xfrm>
          <a:prstGeom prst="ellipse">
            <a:avLst/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663" y="88591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62456" y="0"/>
            <a:ext cx="7781544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188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</a:rPr>
              <a:t>Current Features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658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All 12 planned features implemented &amp; verified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20700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070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Fetch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5361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any GitHub user by username via REST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11556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20700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2070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94176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15361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Avatar, Name, Bio, Repos, Stars, Forks, Followers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44768" y="111556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20700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2070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38544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Repos Chart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15361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top 8 repos by star count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07568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1671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1671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Table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2496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 with Stars / Forks / Language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07568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1671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1671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94176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Pie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10128" y="2496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language distribution + legend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207568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21671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1671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38544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54496" y="2496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switch for side-by-side comparison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303580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12724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12724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Bars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34564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metric comparison between two users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0" y="303580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0" y="312724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312724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94176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Card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310128" y="34564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formula: Stars×3 + Followers×2 + Repos + Langs×5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44768" y="303580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6208" y="312724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6208" y="312724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38544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Log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254496" y="34564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of every API request status in real time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" y="399592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7472" y="408736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408736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9808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65760" y="44165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active + Veteran badge for older accounts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0" y="399592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91840" y="408736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0" y="408736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94176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Searches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310128" y="44165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Quick-access chips for recently analyzed usernames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44768" y="3995928"/>
            <a:ext cx="2788920" cy="841248"/>
          </a:xfrm>
          <a:prstGeom prst="roundRect">
            <a:avLst>
              <a:gd name="adj" fmla="val 7609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36208" y="408736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36208" y="408736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✅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38544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Filter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254496" y="44165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text filter within a user's repository list</a:t>
            </a:r>
            <a:endParaRPr lang="en-US" sz="900" dirty="0"/>
          </a:p>
        </p:txBody>
      </p:sp>
      <p:pic>
        <p:nvPicPr>
          <p:cNvPr id="7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3" y="70721"/>
            <a:ext cx="658368" cy="658368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62456" y="0"/>
            <a:ext cx="7781544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188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</a:rPr>
              <a:t>Planned Features &amp; KPIs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658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Roadmap for v2.0 and success metrics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1A2340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91056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F5252">
              <a:alpha val="3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91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98448" y="1536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Graph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1773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heatmap (activity graph)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1A2340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12848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F5252">
              <a:alpha val="3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8448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Repos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2395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profile-pinned repositories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06624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1A2340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3464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FB300">
              <a:alpha val="3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98448" y="2779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by Bytes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98448" y="3017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count rather than repo count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28416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1A2340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45643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56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98448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Profile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98448" y="36393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PDF or screenshot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1A2340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078224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782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9844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Token Support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98448" y="42611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API rate limit with PAT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10789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577840" y="148132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15179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87568" y="171907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seconds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2048256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87568" y="228600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req/hr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2615184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87568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87568" y="285292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correct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77840" y="318211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3218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87568" y="3419856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by deadline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77840" y="3749040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37856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Coverage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87568" y="39867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cases handled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577840" y="431596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87568" y="43525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Modularity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87568" y="455371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Components/hooks/utils</a:t>
            </a:r>
            <a:endParaRPr lang="en-US" sz="1100" dirty="0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41" y="77434"/>
            <a:ext cx="658368" cy="658368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62456" y="0"/>
            <a:ext cx="7781544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188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</a:rPr>
              <a:t>Requirements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658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User Stories &amp; Use Cases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0934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09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Developer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81328" y="15544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username to view all GitHub stats and track progress.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6771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Developer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81328" y="2212848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most-used programming languages to identify specialization.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260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26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HR Professional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81328" y="287121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profiles simultaneously to choose the best candidate.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38144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8444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844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81328" y="352958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 Radar Chart comparing two users across multiple dimensions.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09651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24281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5252">
              <a:alpha val="25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242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81328" y="418795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Terminal log showing real-time status of data fetching.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10789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77840" y="148132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1527048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 </a:t>
            </a: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Fetch Profile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87568" y="1755648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→ click ANALYZE → load data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2048256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209397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  </a:t>
            </a: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Profile Card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87568" y="2322576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avatar, bio, stats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77840" y="2615184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2660904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  </a:t>
            </a: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Repositories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87568" y="2889504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 with all repos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77840" y="318211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322783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  </a:t>
            </a: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Languages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87568" y="3456432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language distribution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77840" y="3749040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379476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  </a:t>
            </a: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Users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87568" y="4023360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+ Winner Card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77840" y="431596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87568" y="4361688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UC-06  </a:t>
            </a: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Terminal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87568" y="4590288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of each API request</a:t>
            </a:r>
            <a:endParaRPr lang="en-US" sz="90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03" y="86578"/>
            <a:ext cx="658368" cy="658368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50976" y="256032"/>
            <a:ext cx="1743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94432" y="256032"/>
            <a:ext cx="2731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73575" y="3458011"/>
            <a:ext cx="2743200" cy="1444752"/>
          </a:xfrm>
          <a:prstGeom prst="roundRect">
            <a:avLst>
              <a:gd name="adj" fmla="val 4430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3303" y="3554582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303" y="355458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63FF"/>
                </a:solidFill>
              </a:rPr>
              <a:t>6.1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3303" y="386547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Single User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3303" y="417637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username → clicks ANALYZE → Terminal log confirms → Profile Card + Charts appear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3593" y="3458011"/>
            <a:ext cx="2743200" cy="1444752"/>
          </a:xfrm>
          <a:prstGeom prst="roundRect">
            <a:avLst>
              <a:gd name="adj" fmla="val 4430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53321" y="3567739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4FC3F7">
              <a:alpha val="3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3321" y="3567739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</a:rPr>
              <a:t>6.2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53321" y="387863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 — Two Profiles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53321" y="4189531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search fields (USER_1 / USER_2) render side by side with matching accent colors</a:t>
            </a:r>
            <a:endParaRPr lang="en-US" sz="9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07" y="73769"/>
            <a:ext cx="658368" cy="658368"/>
          </a:xfrm>
          <a:prstGeom prst="ellipse">
            <a:avLst/>
          </a:prstGeom>
        </p:spPr>
      </p:pic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942" y="83916"/>
            <a:ext cx="658368" cy="65836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930" y="964514"/>
            <a:ext cx="4134478" cy="237466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" y="964514"/>
            <a:ext cx="4141384" cy="237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50976" y="256032"/>
            <a:ext cx="1743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94432" y="256032"/>
            <a:ext cx="2731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34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07" y="73769"/>
            <a:ext cx="658368" cy="658368"/>
          </a:xfrm>
          <a:prstGeom prst="ellipse">
            <a:avLst/>
          </a:prstGeom>
        </p:spPr>
      </p:pic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942" y="83916"/>
            <a:ext cx="658368" cy="658368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950976" y="3458011"/>
            <a:ext cx="2743200" cy="1444752"/>
          </a:xfrm>
          <a:prstGeom prst="roundRect">
            <a:avLst>
              <a:gd name="adj" fmla="val 4430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29" name="Shape 18"/>
          <p:cNvSpPr/>
          <p:nvPr/>
        </p:nvSpPr>
        <p:spPr>
          <a:xfrm>
            <a:off x="1060704" y="3567739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1060704" y="3567739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</a:rPr>
              <a:t>6.3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060704" y="387863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Tab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1060704" y="4189531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 with Stars, Forks, Language. Live filter narrows the list by repo name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5425440" y="3458011"/>
            <a:ext cx="2743200" cy="1444752"/>
          </a:xfrm>
          <a:prstGeom prst="roundRect">
            <a:avLst>
              <a:gd name="adj" fmla="val 4430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5535168" y="3567739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FFB300">
              <a:alpha val="3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5535168" y="3567739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</a:rPr>
              <a:t>6.4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5535168" y="387863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Tab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5535168" y="4189531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with color-coded legend showing repo counts per language</a:t>
            </a:r>
            <a:endParaRPr lang="en-US" sz="9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38" y="886405"/>
            <a:ext cx="4270475" cy="245276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214" y="854342"/>
            <a:ext cx="4309782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5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214" y="852012"/>
            <a:ext cx="4295089" cy="24669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38" y="885788"/>
            <a:ext cx="4270475" cy="24527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50976" y="256032"/>
            <a:ext cx="1743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94432" y="256032"/>
            <a:ext cx="2731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34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07" y="73769"/>
            <a:ext cx="658368" cy="658368"/>
          </a:xfrm>
          <a:prstGeom prst="ellipse">
            <a:avLst/>
          </a:prstGeom>
        </p:spPr>
      </p:pic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942" y="83916"/>
            <a:ext cx="658368" cy="658368"/>
          </a:xfrm>
          <a:prstGeom prst="rect">
            <a:avLst/>
          </a:prstGeom>
        </p:spPr>
      </p:pic>
      <p:sp>
        <p:nvSpPr>
          <p:cNvPr id="26" name="Shape 27"/>
          <p:cNvSpPr/>
          <p:nvPr/>
        </p:nvSpPr>
        <p:spPr>
          <a:xfrm>
            <a:off x="828486" y="3493442"/>
            <a:ext cx="2743200" cy="1444752"/>
          </a:xfrm>
          <a:prstGeom prst="roundRect">
            <a:avLst>
              <a:gd name="adj" fmla="val 4430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27" name="Shape 28"/>
          <p:cNvSpPr/>
          <p:nvPr/>
        </p:nvSpPr>
        <p:spPr>
          <a:xfrm>
            <a:off x="938214" y="3603170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FF5252">
              <a:alpha val="3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38214" y="360317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252"/>
                </a:solidFill>
              </a:rPr>
              <a:t>6.5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938214" y="391406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Tab — Head-to-Head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938214" y="422496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across 6 dimensions + Head-to-Head bars + Overall Winner card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5490610" y="3478575"/>
            <a:ext cx="2743200" cy="1444752"/>
          </a:xfrm>
          <a:prstGeom prst="roundRect">
            <a:avLst>
              <a:gd name="adj" fmla="val 4430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5600338" y="3588303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5600338" y="3588303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63FF"/>
                </a:solidFill>
              </a:rPr>
              <a:t>6.6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5600338" y="3899199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Tab — Activity Charts</a:t>
            </a:r>
            <a:endParaRPr lang="en-US" sz="1200" dirty="0"/>
          </a:p>
        </p:txBody>
      </p:sp>
      <p:sp>
        <p:nvSpPr>
          <p:cNvPr id="47" name="Text 36"/>
          <p:cNvSpPr/>
          <p:nvPr/>
        </p:nvSpPr>
        <p:spPr>
          <a:xfrm>
            <a:off x="5600338" y="4210095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Active Repos bar chart (3/6/12 months) + Repo Size Distribution breakdown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9462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62456" y="0"/>
            <a:ext cx="7781544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188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Metrics Dashboard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658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Analytics Dashboard — Final Build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1993392" cy="1389888"/>
          </a:xfrm>
          <a:prstGeom prst="roundRect">
            <a:avLst>
              <a:gd name="adj" fmla="val 5263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20700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56032" y="19933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32304" y="1115568"/>
            <a:ext cx="1993392" cy="1389888"/>
          </a:xfrm>
          <a:prstGeom prst="roundRect">
            <a:avLst>
              <a:gd name="adj" fmla="val 5263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120700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432304" y="19933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115568"/>
            <a:ext cx="1993392" cy="1389888"/>
          </a:xfrm>
          <a:prstGeom prst="roundRect">
            <a:avLst>
              <a:gd name="adj" fmla="val 5263"/>
            </a:avLst>
          </a:prstGeom>
          <a:solidFill>
            <a:srgbClr val="1A2340"/>
          </a:solidFill>
          <a:ln w="17780">
            <a:solidFill>
              <a:srgbClr val="FF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20700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608576" y="19933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84848" y="1115568"/>
            <a:ext cx="1993392" cy="1389888"/>
          </a:xfrm>
          <a:prstGeom prst="roundRect">
            <a:avLst>
              <a:gd name="adj" fmla="val 5263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20700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784848" y="19933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743200"/>
            <a:ext cx="5230368" cy="530352"/>
          </a:xfrm>
          <a:prstGeom prst="roundRect">
            <a:avLst>
              <a:gd name="adj" fmla="val 10345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889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35024" y="2834640"/>
            <a:ext cx="0" cy="329184"/>
          </a:xfrm>
          <a:prstGeom prst="line">
            <a:avLst/>
          </a:prstGeom>
          <a:noFill/>
          <a:ln w="8890">
            <a:solidFill>
              <a:srgbClr val="1E2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2779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 + API + Search + UI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44752" y="30358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 – Mar 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950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8895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</a:rPr>
              <a:t>✅ 100%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364992"/>
            <a:ext cx="5230368" cy="530352"/>
          </a:xfrm>
          <a:prstGeom prst="roundRect">
            <a:avLst>
              <a:gd name="adj" fmla="val 10345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4107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35024" y="3456432"/>
            <a:ext cx="0" cy="329184"/>
          </a:xfrm>
          <a:prstGeom prst="line">
            <a:avLst/>
          </a:prstGeom>
          <a:noFill/>
          <a:ln w="8890">
            <a:solidFill>
              <a:srgbClr val="1E2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4752" y="3401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UserCard + Overview + Repos + Languages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44752" y="3657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 – Apr 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511296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5112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</a:rPr>
              <a:t>✅ 100%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986784"/>
            <a:ext cx="5230368" cy="530352"/>
          </a:xfrm>
          <a:prstGeom prst="roundRect">
            <a:avLst>
              <a:gd name="adj" fmla="val 10345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325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335024" y="4078224"/>
            <a:ext cx="0" cy="329184"/>
          </a:xfrm>
          <a:prstGeom prst="line">
            <a:avLst/>
          </a:prstGeom>
          <a:noFill/>
          <a:ln w="8890">
            <a:solidFill>
              <a:srgbClr val="1E2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44752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Compare + Radar Chart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444752" y="4279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30 – May 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133088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133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</a:rPr>
              <a:t>✅ 100%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87568" y="2670048"/>
            <a:ext cx="3200400" cy="2304288"/>
          </a:xfrm>
          <a:prstGeom prst="roundRect">
            <a:avLst>
              <a:gd name="adj" fmla="val 2778"/>
            </a:avLst>
          </a:prstGeom>
          <a:solidFill>
            <a:srgbClr val="1A2340"/>
          </a:solidFill>
          <a:ln w="17780">
            <a:solidFill>
              <a:srgbClr val="1E2D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2816352"/>
            <a:ext cx="1828800" cy="18288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75120" y="3090672"/>
            <a:ext cx="1280160" cy="1280160"/>
          </a:xfrm>
          <a:prstGeom prst="ellipse">
            <a:avLst/>
          </a:prstGeom>
          <a:solidFill>
            <a:srgbClr val="141B2D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84848" y="3200400"/>
            <a:ext cx="1060704" cy="1060704"/>
          </a:xfrm>
          <a:prstGeom prst="ellipse">
            <a:avLst/>
          </a:prstGeom>
          <a:solidFill>
            <a:srgbClr val="FF5252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339242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75120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87568" y="4645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mtClean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</a:t>
            </a: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" y="77216"/>
            <a:ext cx="658368" cy="658368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73152"/>
            <a:ext cx="658368" cy="658368"/>
          </a:xfrm>
          <a:prstGeom prst="ellipse">
            <a:avLst/>
          </a:prstGeom>
          <a:solidFill>
            <a:srgbClr val="6C63FF">
              <a:alpha val="6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B"/>
                </a:solidFill>
              </a:rPr>
              <a:t>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75904" y="73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ITC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C63FF">
              <a:alpha val="20000"/>
            </a:srgbClr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00" y="-91440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9260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5376672" cy="822960"/>
          </a:xfrm>
          <a:prstGeom prst="roundRect">
            <a:avLst>
              <a:gd name="adj" fmla="val 7778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591056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planned features delivered &amp; verified. Pure frontend, no backend — any username analyzed in under 3 seconds.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57984"/>
            <a:ext cx="5376672" cy="822960"/>
          </a:xfrm>
          <a:prstGeom prst="roundRect">
            <a:avLst>
              <a:gd name="adj" fmla="val 7778"/>
            </a:avLst>
          </a:prstGeom>
          <a:solidFill>
            <a:srgbClr val="1A2340"/>
          </a:solidFill>
          <a:ln w="1778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2542032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 integration, Compare Mode with Winner Score, Terminal Log, Language charts, and Repo filtering all working.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5376672" cy="822960"/>
          </a:xfrm>
          <a:prstGeom prst="roundRect">
            <a:avLst>
              <a:gd name="adj" fmla="val 7778"/>
            </a:avLst>
          </a:prstGeom>
          <a:solidFill>
            <a:srgbClr val="1A2340"/>
          </a:solidFill>
          <a:ln w="1778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63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493008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parallel Git branches across a 5-person team with shared UI components as a foundation proved effective.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059936"/>
            <a:ext cx="5376672" cy="822960"/>
          </a:xfrm>
          <a:prstGeom prst="roundRect">
            <a:avLst>
              <a:gd name="adj" fmla="val 7778"/>
            </a:avLst>
          </a:prstGeom>
          <a:solidFill>
            <a:srgbClr val="1A2340"/>
          </a:solidFill>
          <a:ln w="1778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4443984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Graph, Pinned Repos, Language by bytes, Export to PDF, and GitHub Token support planned for v2.0.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33872" y="1207008"/>
            <a:ext cx="3127248" cy="3529584"/>
          </a:xfrm>
          <a:prstGeom prst="roundRect">
            <a:avLst>
              <a:gd name="adj" fmla="val 2047"/>
            </a:avLst>
          </a:prstGeom>
          <a:solidFill>
            <a:srgbClr val="1A2340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1609344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833872" y="2157984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You!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291072" y="2852928"/>
            <a:ext cx="2212848" cy="0"/>
          </a:xfrm>
          <a:prstGeom prst="line">
            <a:avLst/>
          </a:prstGeom>
          <a:noFill/>
          <a:ln w="8890">
            <a:solidFill>
              <a:srgbClr val="1E2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299923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Norhan Elyan  —  Project Lead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Analytics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Graduation Project  •  2026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16752" y="3913632"/>
            <a:ext cx="2761488" cy="658368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39136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</a:rPr>
              <a:t>All 12 features  ✅  Delivered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16752" y="422452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critical bugs on final build</a:t>
            </a:r>
            <a:endParaRPr lang="en-US" sz="10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4" y="70612"/>
            <a:ext cx="660908" cy="660908"/>
          </a:xfrm>
          <a:prstGeom prst="ellipse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64008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1181</Words>
  <Application>Microsoft Office PowerPoint</Application>
  <PresentationFormat>On-screen Show (16:9)</PresentationFormat>
  <Paragraphs>327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Analytics Dashboard</dc:title>
  <dc:subject>PptxGenJS Presentation</dc:subject>
  <dc:creator>Norhan Elyan</dc:creator>
  <cp:lastModifiedBy>Microsoft account</cp:lastModifiedBy>
  <cp:revision>9</cp:revision>
  <dcterms:created xsi:type="dcterms:W3CDTF">2026-06-24T22:48:04Z</dcterms:created>
  <dcterms:modified xsi:type="dcterms:W3CDTF">2026-06-25T00:36:14Z</dcterms:modified>
</cp:coreProperties>
</file>